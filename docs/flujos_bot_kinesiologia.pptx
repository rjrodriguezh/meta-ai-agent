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4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1188720" cy="1188720"/>
          </a:xfrm>
          <a:prstGeom prst="roundRect">
            <a:avLst>
              <a:gd name="adj" fmla="val 21538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54864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31720"/>
            <a:ext cx="107899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Bot de WhatsApp — Felipe Castillo Kinesiología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9776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gráfica de los flujos conversacionales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035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C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de pacientes · agenda · fichas y ejercicios · consultas generales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PUEDE HACER EL BOT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Ocho funciones, tres grupos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566160" cy="384048"/>
          </a:xfrm>
          <a:prstGeom prst="roundRect">
            <a:avLst>
              <a:gd name="adj" fmla="val 19048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41732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965960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1F7F6"/>
          </a:solidFill>
          <a:ln w="12700">
            <a:solidFill>
              <a:srgbClr val="F1F7F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2093976"/>
            <a:ext cx="3163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Agendar hora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2478024"/>
            <a:ext cx="31638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un horario disponible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3182112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1F7F6"/>
          </a:solidFill>
          <a:ln w="12700">
            <a:solidFill>
              <a:srgbClr val="F1F7F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49808" y="3310128"/>
            <a:ext cx="3163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Reagendar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49808" y="3694176"/>
            <a:ext cx="31638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 fecha u hora de una cita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398264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1F7F6"/>
          </a:solidFill>
          <a:ln w="12700">
            <a:solidFill>
              <a:srgbClr val="F1F7F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49808" y="4526280"/>
            <a:ext cx="3163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Cancelar cita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749808" y="4910328"/>
            <a:ext cx="31638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Anula una hora agendada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343400" y="1417320"/>
            <a:ext cx="3566160" cy="384048"/>
          </a:xfrm>
          <a:prstGeom prst="roundRect">
            <a:avLst>
              <a:gd name="adj" fmla="val 19048"/>
            </a:avLst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43400" y="141732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y ficha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343400" y="1965960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1F7F6"/>
          </a:solidFill>
          <a:ln w="12700">
            <a:solidFill>
              <a:srgbClr val="F1F7F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44568" y="2093976"/>
            <a:ext cx="3163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de paciente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544568" y="2478024"/>
            <a:ext cx="31638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Nombre, RUT, peso y altura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343400" y="3182112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1F7F6"/>
          </a:solidFill>
          <a:ln w="12700">
            <a:solidFill>
              <a:srgbClr val="F1F7F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44568" y="3310128"/>
            <a:ext cx="3163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 ficha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544568" y="3694176"/>
            <a:ext cx="31638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Zona, diagnóstico y ejercicios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343400" y="4398264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1F7F6"/>
          </a:solidFill>
          <a:ln w="12700">
            <a:solidFill>
              <a:srgbClr val="F1F7F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544568" y="4526280"/>
            <a:ext cx="3163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Consultar ejercicios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4544568" y="4910328"/>
            <a:ext cx="31638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Rutina asignada, con video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8138160" y="1417320"/>
            <a:ext cx="3566160" cy="384048"/>
          </a:xfrm>
          <a:prstGeom prst="roundRect">
            <a:avLst>
              <a:gd name="adj" fmla="val 19048"/>
            </a:avLst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138160" y="141732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8138160" y="1965960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1F7F6"/>
          </a:solidFill>
          <a:ln w="12700">
            <a:solidFill>
              <a:srgbClr val="F1F7F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339328" y="2093976"/>
            <a:ext cx="3163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Consultas generales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339328" y="2478024"/>
            <a:ext cx="31638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Horarios, precios y previsión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138160" y="3182112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1F7F6"/>
          </a:solidFill>
          <a:ln w="12700">
            <a:solidFill>
              <a:srgbClr val="F1F7F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339328" y="3310128"/>
            <a:ext cx="3163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Derivación a Felipe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8339328" y="3694176"/>
            <a:ext cx="31638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bilaterales o complejos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Y FICHA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Registro de paciente nuevo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263640" y="365760"/>
            <a:ext cx="5349240" cy="6355080"/>
          </a:xfrm>
          <a:prstGeom prst="roundRect">
            <a:avLst>
              <a:gd name="adj" fmla="val 2393"/>
            </a:avLst>
          </a:prstGeom>
          <a:solidFill>
            <a:srgbClr val="F1F7F6"/>
          </a:solidFill>
          <a:ln w="12700">
            <a:solidFill>
              <a:srgbClr val="F1F7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37960" y="694944"/>
            <a:ext cx="4800600" cy="384048"/>
          </a:xfrm>
          <a:prstGeom prst="roundRect">
            <a:avLst>
              <a:gd name="adj" fmla="val 23810"/>
            </a:avLst>
          </a:prstGeom>
          <a:solidFill>
            <a:srgbClr val="F1F5F4"/>
          </a:solidFill>
          <a:ln w="9525">
            <a:solidFill>
              <a:srgbClr val="D7E1E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84264" y="694944"/>
            <a:ext cx="4507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Hola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6537960" y="521208"/>
            <a:ext cx="4800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C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Paciente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6537960" y="1298448"/>
            <a:ext cx="4800600" cy="384048"/>
          </a:xfrm>
          <a:prstGeom prst="roundRect">
            <a:avLst>
              <a:gd name="adj" fmla="val 23810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84264" y="1298448"/>
            <a:ext cx="4507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¡Hola! No tengo tu registro todavía. ¿Cuál es tu nombre y apellido?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6537960" y="1124712"/>
            <a:ext cx="4800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C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537960" y="1901952"/>
            <a:ext cx="4800600" cy="384048"/>
          </a:xfrm>
          <a:prstGeom prst="roundRect">
            <a:avLst>
              <a:gd name="adj" fmla="val 23810"/>
            </a:avLst>
          </a:prstGeom>
          <a:solidFill>
            <a:srgbClr val="F1F5F4"/>
          </a:solidFill>
          <a:ln w="9525">
            <a:solidFill>
              <a:srgbClr val="D7E1E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684264" y="1901952"/>
            <a:ext cx="4507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María Soto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1728216"/>
            <a:ext cx="4800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C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Paciente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537960" y="2505456"/>
            <a:ext cx="4800600" cy="566928"/>
          </a:xfrm>
          <a:prstGeom prst="roundRect">
            <a:avLst>
              <a:gd name="adj" fmla="val 16129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684264" y="2505456"/>
            <a:ext cx="45079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Listo, María. Ya te registré.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¿Cuál es tu RUT?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6537960" y="2331720"/>
            <a:ext cx="4800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C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537960" y="3291840"/>
            <a:ext cx="4800600" cy="384048"/>
          </a:xfrm>
          <a:prstGeom prst="roundRect">
            <a:avLst>
              <a:gd name="adj" fmla="val 23810"/>
            </a:avLst>
          </a:prstGeom>
          <a:solidFill>
            <a:srgbClr val="F1F5F4"/>
          </a:solidFill>
          <a:ln w="9525">
            <a:solidFill>
              <a:srgbClr val="D7E1E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684264" y="3291840"/>
            <a:ext cx="4507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11.222.333-4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537960" y="3118104"/>
            <a:ext cx="4800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C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Paciente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537960" y="3895344"/>
            <a:ext cx="4800600" cy="566928"/>
          </a:xfrm>
          <a:prstGeom prst="roundRect">
            <a:avLst>
              <a:gd name="adj" fmla="val 16129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684264" y="3895344"/>
            <a:ext cx="45079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la información. ¿Cuál es tu peso? (opcional, puedes decir "no")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6537960" y="3721608"/>
            <a:ext cx="4800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C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37960" y="4681728"/>
            <a:ext cx="4800600" cy="384048"/>
          </a:xfrm>
          <a:prstGeom prst="roundRect">
            <a:avLst>
              <a:gd name="adj" fmla="val 23810"/>
            </a:avLst>
          </a:prstGeom>
          <a:solidFill>
            <a:srgbClr val="F1F5F4"/>
          </a:solidFill>
          <a:ln w="9525">
            <a:solidFill>
              <a:srgbClr val="D7E1E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684264" y="4681728"/>
            <a:ext cx="4507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6537960" y="4507992"/>
            <a:ext cx="4800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C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Paciente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537960" y="5285232"/>
            <a:ext cx="4800600" cy="384048"/>
          </a:xfrm>
          <a:prstGeom prst="roundRect">
            <a:avLst>
              <a:gd name="adj" fmla="val 23810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684264" y="5285232"/>
            <a:ext cx="4507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la información. ¿Cuál es tu altura? (opcional)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6537960" y="5111496"/>
            <a:ext cx="4800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C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537960" y="5888736"/>
            <a:ext cx="4800600" cy="384048"/>
          </a:xfrm>
          <a:prstGeom prst="roundRect">
            <a:avLst>
              <a:gd name="adj" fmla="val 23810"/>
            </a:avLst>
          </a:prstGeom>
          <a:solidFill>
            <a:srgbClr val="F1F5F4"/>
          </a:solidFill>
          <a:ln w="9525">
            <a:solidFill>
              <a:srgbClr val="D7E1E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684264" y="5888736"/>
            <a:ext cx="4507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1.65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6537960" y="5715000"/>
            <a:ext cx="4800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C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Paciente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1417320"/>
            <a:ext cx="53949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5C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escribir “Hola” desde un número sin ficha, el bot pide en orden: nombre y apellido, luego RUT (obligatorio), y por último peso y altura (opcionales — el paciente puede responder “no” para saltarlos).</a:t>
            </a:r>
            <a:endParaRPr lang="en-US" sz="1400" dirty="0"/>
          </a:p>
          <a:p>
            <a:pPr algn="l" indent="0" marL="0">
              <a:lnSpc>
                <a:spcPct val="135000"/>
              </a:lnSpc>
              <a:buNone/>
            </a:pPr>
            <a:endParaRPr lang="en-US" sz="14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5C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vez que el paciente entrega un dato, el bot agradece antes de seguir con la siguiente pregunta.</a:t>
            </a:r>
            <a:endParaRPr lang="en-US" sz="1400" dirty="0"/>
          </a:p>
          <a:p>
            <a:pPr algn="l" indent="0" marL="0">
              <a:lnSpc>
                <a:spcPct val="135000"/>
              </a:lnSpc>
              <a:buNone/>
            </a:pPr>
            <a:endParaRPr lang="en-US" sz="14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5C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teléfono no se pregunta: ya llega desde WhatsApp.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635508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C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interno: esperando_rut → esperando_peso → esperando_altura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Y FICHA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Diagnóstico guiado por zona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263640" y="365760"/>
            <a:ext cx="5349240" cy="6355080"/>
          </a:xfrm>
          <a:prstGeom prst="roundRect">
            <a:avLst>
              <a:gd name="adj" fmla="val 2393"/>
            </a:avLst>
          </a:prstGeom>
          <a:solidFill>
            <a:srgbClr val="F1F7F6"/>
          </a:solidFill>
          <a:ln w="12700">
            <a:solidFill>
              <a:srgbClr val="F1F7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37960" y="694944"/>
            <a:ext cx="4800600" cy="384048"/>
          </a:xfrm>
          <a:prstGeom prst="roundRect">
            <a:avLst>
              <a:gd name="adj" fmla="val 23810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84264" y="694944"/>
            <a:ext cx="4507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la información. ¿En qué zona tienes la lesión?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537960" y="521208"/>
            <a:ext cx="4800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C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6537960" y="1298448"/>
            <a:ext cx="4800600" cy="384048"/>
          </a:xfrm>
          <a:prstGeom prst="roundRect">
            <a:avLst>
              <a:gd name="adj" fmla="val 23810"/>
            </a:avLst>
          </a:prstGeom>
          <a:solidFill>
            <a:srgbClr val="F1F5F4"/>
          </a:solidFill>
          <a:ln w="9525">
            <a:solidFill>
              <a:srgbClr val="D7E1E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84264" y="1298448"/>
            <a:ext cx="4507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rodilla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537960" y="1124712"/>
            <a:ext cx="4800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C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Paciente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537960" y="1901952"/>
            <a:ext cx="4800600" cy="1664208"/>
          </a:xfrm>
          <a:prstGeom prst="roundRect">
            <a:avLst>
              <a:gd name="adj" fmla="val 5495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684264" y="1901952"/>
            <a:ext cx="4507992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la información.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Condromalacia rotuliana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Meniscopatía / Esguince de rodilla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Post-cirugía de rodilla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Tendinitis pata de ganso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 con el número.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1728216"/>
            <a:ext cx="4800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C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537960" y="3785616"/>
            <a:ext cx="4800600" cy="384048"/>
          </a:xfrm>
          <a:prstGeom prst="roundRect">
            <a:avLst>
              <a:gd name="adj" fmla="val 23810"/>
            </a:avLst>
          </a:prstGeom>
          <a:solidFill>
            <a:srgbClr val="F1F5F4"/>
          </a:solidFill>
          <a:ln w="9525">
            <a:solidFill>
              <a:srgbClr val="D7E1E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684264" y="3785616"/>
            <a:ext cx="4507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537960" y="3611880"/>
            <a:ext cx="4800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C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Paciente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537960" y="4389120"/>
            <a:ext cx="4800600" cy="384048"/>
          </a:xfrm>
          <a:prstGeom prst="roundRect">
            <a:avLst>
              <a:gd name="adj" fmla="val 23810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684264" y="4389120"/>
            <a:ext cx="4507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¿Quisiste decir Condromalacia rotuliana?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537960" y="4215384"/>
            <a:ext cx="4800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C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537960" y="4992624"/>
            <a:ext cx="4800600" cy="384048"/>
          </a:xfrm>
          <a:prstGeom prst="roundRect">
            <a:avLst>
              <a:gd name="adj" fmla="val 23810"/>
            </a:avLst>
          </a:prstGeom>
          <a:solidFill>
            <a:srgbClr val="F1F5F4"/>
          </a:solidFill>
          <a:ln w="9525">
            <a:solidFill>
              <a:srgbClr val="D7E1E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684264" y="4992624"/>
            <a:ext cx="4507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537960" y="4818888"/>
            <a:ext cx="4800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C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Paciente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1417320"/>
            <a:ext cx="53949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5C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Terminado el registro, el bot agradece, pregunta en qué zona del cuerpo está la lesión y muestra los diagnósticos de esa zona como un menú numerado.</a:t>
            </a:r>
            <a:endParaRPr lang="en-US" sz="1400" dirty="0"/>
          </a:p>
          <a:p>
            <a:pPr algn="l" indent="0" marL="0">
              <a:lnSpc>
                <a:spcPct val="135000"/>
              </a:lnSpc>
              <a:buNone/>
            </a:pPr>
            <a:endParaRPr lang="en-US" sz="14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5C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paciente ya escribió algo que calza con el catálogo, se lo confirma directo (“¿Quisiste decir X?”) en vez de mostrar el menú.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635508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C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Catálogo: 25 diagnósticos en 8 zonas, activities-service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Y FICHA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Diagnóstico de la orden médica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263640" y="365760"/>
            <a:ext cx="5349240" cy="6355080"/>
          </a:xfrm>
          <a:prstGeom prst="roundRect">
            <a:avLst>
              <a:gd name="adj" fmla="val 2393"/>
            </a:avLst>
          </a:prstGeom>
          <a:solidFill>
            <a:srgbClr val="F1F7F6"/>
          </a:solidFill>
          <a:ln w="12700">
            <a:solidFill>
              <a:srgbClr val="F1F7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37960" y="694944"/>
            <a:ext cx="4800600" cy="566928"/>
          </a:xfrm>
          <a:prstGeom prst="roundRect">
            <a:avLst>
              <a:gd name="adj" fmla="val 16129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84264" y="694944"/>
            <a:ext cx="45079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Escríbeme el diagnóstico tal como aparece en tu orden médica, y cuéntame un poco qué te pasó.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537960" y="521208"/>
            <a:ext cx="4800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C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6537960" y="1481328"/>
            <a:ext cx="4800600" cy="384048"/>
          </a:xfrm>
          <a:prstGeom prst="roundRect">
            <a:avLst>
              <a:gd name="adj" fmla="val 23810"/>
            </a:avLst>
          </a:prstGeom>
          <a:solidFill>
            <a:srgbClr val="F1F5F4"/>
          </a:solidFill>
          <a:ln w="9525">
            <a:solidFill>
              <a:srgbClr val="D7E1E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84264" y="1481328"/>
            <a:ext cx="4507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Tendinitis De Quervain. Me caí hace una semana y apoyé la mano.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537960" y="1307592"/>
            <a:ext cx="4800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C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Paciente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1417320"/>
            <a:ext cx="53949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5C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crear la ficha, el bot le pide al paciente que escriba el diagnóstico tal como aparece en su orden médica y que cuente brevemente qué le pasó.</a:t>
            </a:r>
            <a:endParaRPr lang="en-US" sz="1400" dirty="0"/>
          </a:p>
          <a:p>
            <a:pPr algn="l" indent="0" marL="0">
              <a:lnSpc>
                <a:spcPct val="135000"/>
              </a:lnSpc>
              <a:buNone/>
            </a:pPr>
            <a:endParaRPr lang="en-US" sz="14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5C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 relato queda guardado como observación de la ficha, disponible para Felipe.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635508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C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guarda como fic_observacion en la ficha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Y FICHA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Ficha creada con ejercicios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263640" y="365760"/>
            <a:ext cx="5349240" cy="6355080"/>
          </a:xfrm>
          <a:prstGeom prst="roundRect">
            <a:avLst>
              <a:gd name="adj" fmla="val 2393"/>
            </a:avLst>
          </a:prstGeom>
          <a:solidFill>
            <a:srgbClr val="F1F7F6"/>
          </a:solidFill>
          <a:ln w="12700">
            <a:solidFill>
              <a:srgbClr val="F1F7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37960" y="694944"/>
            <a:ext cx="4800600" cy="1664208"/>
          </a:xfrm>
          <a:prstGeom prst="roundRect">
            <a:avLst>
              <a:gd name="adj" fmla="val 5495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84264" y="694944"/>
            <a:ext cx="4507992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la información.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Cuando agendes tu primera sesión, no olvides traer tu orden médica.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Listo, ficha creada por Condromalacia rotuliana (10 sesiones). Incluye 3 ejercicios que te iré enviando para que hagas en casa.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fonasa? Así te paso los precios.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537960" y="521208"/>
            <a:ext cx="4800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C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6537960" y="2578608"/>
            <a:ext cx="4800600" cy="384048"/>
          </a:xfrm>
          <a:prstGeom prst="roundRect">
            <a:avLst>
              <a:gd name="adj" fmla="val 23810"/>
            </a:avLst>
          </a:prstGeom>
          <a:solidFill>
            <a:srgbClr val="F1F5F4"/>
          </a:solidFill>
          <a:ln w="9525">
            <a:solidFill>
              <a:srgbClr val="D7E1E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84264" y="2578608"/>
            <a:ext cx="4507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537960" y="2404872"/>
            <a:ext cx="4800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C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Paciente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537960" y="3182112"/>
            <a:ext cx="4800600" cy="384048"/>
          </a:xfrm>
          <a:prstGeom prst="roundRect">
            <a:avLst>
              <a:gd name="adj" fmla="val 23810"/>
            </a:avLst>
          </a:prstGeom>
          <a:solidFill>
            <a:srgbClr val="F1F5F4"/>
          </a:solidFill>
          <a:ln w="9525">
            <a:solidFill>
              <a:srgbClr val="D7E1E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684264" y="3182112"/>
            <a:ext cx="4507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ejercicios me tocan?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3008376"/>
            <a:ext cx="4800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C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Paciente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537960" y="3785616"/>
            <a:ext cx="4800600" cy="932688"/>
          </a:xfrm>
          <a:prstGeom prst="roundRect">
            <a:avLst>
              <a:gd name="adj" fmla="val 9804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684264" y="3785616"/>
            <a:ext cx="450799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Extensión de rodilla en silla (quad set)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Step up (subida al escalón)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Isquiotibiales con banda en prono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[link de video en cada uno]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537960" y="3611880"/>
            <a:ext cx="4800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C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1417320"/>
            <a:ext cx="53949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5C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el relato ya recibido, el bot revisa que no haya una ficha activa duplicada, crea la ficha, recuerda traer la orden médica a la primera sesión y menciona cuántos ejercicios trae asociados.</a:t>
            </a:r>
            <a:endParaRPr lang="en-US" sz="1400" dirty="0"/>
          </a:p>
          <a:p>
            <a:pPr algn="l" indent="0" marL="0">
              <a:lnSpc>
                <a:spcPct val="135000"/>
              </a:lnSpc>
              <a:buNone/>
            </a:pPr>
            <a:endParaRPr lang="en-US" sz="14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5C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adelante el paciente puede pedir su rutina en cualquier momento y el bot responde con el video de cada ejercicio.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635508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C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activities-service, catálogo diagnóstico ↔ ejercicios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Agendar, reagendar y cancelar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429000" cy="384048"/>
          </a:xfrm>
          <a:prstGeom prst="roundRect">
            <a:avLst>
              <a:gd name="adj" fmla="val 19048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371600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Agendar hora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3429000" cy="4709160"/>
          </a:xfrm>
          <a:prstGeom prst="roundRect">
            <a:avLst>
              <a:gd name="adj" fmla="val 3733"/>
            </a:avLst>
          </a:prstGeom>
          <a:solidFill>
            <a:srgbClr val="F1F7F6"/>
          </a:solidFill>
          <a:ln w="12700">
            <a:solidFill>
              <a:srgbClr val="F1F7F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2157984"/>
            <a:ext cx="2971800" cy="384048"/>
          </a:xfrm>
          <a:prstGeom prst="roundRect">
            <a:avLst>
              <a:gd name="adj" fmla="val 23810"/>
            </a:avLst>
          </a:prstGeom>
          <a:solidFill>
            <a:srgbClr val="F1F5F4"/>
          </a:solidFill>
          <a:ln w="9525">
            <a:solidFill>
              <a:srgbClr val="D7E1E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23544" y="2157984"/>
            <a:ext cx="2679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Quiero agendar una hora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1984248"/>
            <a:ext cx="29718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C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Paciente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777240" y="2788920"/>
            <a:ext cx="2971800" cy="384048"/>
          </a:xfrm>
          <a:prstGeom prst="roundRect">
            <a:avLst>
              <a:gd name="adj" fmla="val 23810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23544" y="2788920"/>
            <a:ext cx="2679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día y hora te acomoda?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2615184"/>
            <a:ext cx="29718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C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777240" y="3419856"/>
            <a:ext cx="2971800" cy="384048"/>
          </a:xfrm>
          <a:prstGeom prst="roundRect">
            <a:avLst>
              <a:gd name="adj" fmla="val 23810"/>
            </a:avLst>
          </a:prstGeom>
          <a:solidFill>
            <a:srgbClr val="F1F5F4"/>
          </a:solidFill>
          <a:ln w="9525">
            <a:solidFill>
              <a:srgbClr val="D7E1E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3544" y="3419856"/>
            <a:ext cx="2679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Lunes a las 10am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3246120"/>
            <a:ext cx="29718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C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Paciente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777240" y="4050792"/>
            <a:ext cx="2971800" cy="384048"/>
          </a:xfrm>
          <a:prstGeom prst="roundRect">
            <a:avLst>
              <a:gd name="adj" fmla="val 23810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23544" y="4050792"/>
            <a:ext cx="2679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Confirmo: lunes 10:00. ¿Está bien?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3877056"/>
            <a:ext cx="29718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C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777240" y="4681728"/>
            <a:ext cx="2971800" cy="384048"/>
          </a:xfrm>
          <a:prstGeom prst="roundRect">
            <a:avLst>
              <a:gd name="adj" fmla="val 23810"/>
            </a:avLst>
          </a:prstGeom>
          <a:solidFill>
            <a:srgbClr val="F1F5F4"/>
          </a:solidFill>
          <a:ln w="9525">
            <a:solidFill>
              <a:srgbClr val="D7E1E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23544" y="4681728"/>
            <a:ext cx="2679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4507992"/>
            <a:ext cx="29718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C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Paciente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777240" y="5312664"/>
            <a:ext cx="2971800" cy="384048"/>
          </a:xfrm>
          <a:prstGeom prst="roundRect">
            <a:avLst>
              <a:gd name="adj" fmla="val 23810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23544" y="5312664"/>
            <a:ext cx="2679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Listo, quedas agendado/a.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777240" y="5138928"/>
            <a:ext cx="29718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C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4434840" y="1371600"/>
            <a:ext cx="3429000" cy="384048"/>
          </a:xfrm>
          <a:prstGeom prst="roundRect">
            <a:avLst>
              <a:gd name="adj" fmla="val 19048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434840" y="1371600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Reagendar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434840" y="1828800"/>
            <a:ext cx="3429000" cy="4709160"/>
          </a:xfrm>
          <a:prstGeom prst="roundRect">
            <a:avLst>
              <a:gd name="adj" fmla="val 3733"/>
            </a:avLst>
          </a:prstGeom>
          <a:solidFill>
            <a:srgbClr val="F1F7F6"/>
          </a:solidFill>
          <a:ln w="12700">
            <a:solidFill>
              <a:srgbClr val="F1F7F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663440" y="2157984"/>
            <a:ext cx="2971800" cy="384048"/>
          </a:xfrm>
          <a:prstGeom prst="roundRect">
            <a:avLst>
              <a:gd name="adj" fmla="val 23810"/>
            </a:avLst>
          </a:prstGeom>
          <a:solidFill>
            <a:srgbClr val="F1F5F4"/>
          </a:solidFill>
          <a:ln w="9525">
            <a:solidFill>
              <a:srgbClr val="D7E1E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809744" y="2157984"/>
            <a:ext cx="2679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Necesito cambiar mi hora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4663440" y="1984248"/>
            <a:ext cx="29718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C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Paciente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663440" y="2788920"/>
            <a:ext cx="2971800" cy="566928"/>
          </a:xfrm>
          <a:prstGeom prst="roundRect">
            <a:avLst>
              <a:gd name="adj" fmla="val 16129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809744" y="2788920"/>
            <a:ext cx="2679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Tienes cita el jueves 15:00. ¿Para cuándo la cambio?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4663440" y="2615184"/>
            <a:ext cx="29718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C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4663440" y="3602736"/>
            <a:ext cx="2971800" cy="384048"/>
          </a:xfrm>
          <a:prstGeom prst="roundRect">
            <a:avLst>
              <a:gd name="adj" fmla="val 23810"/>
            </a:avLst>
          </a:prstGeom>
          <a:solidFill>
            <a:srgbClr val="F1F5F4"/>
          </a:solidFill>
          <a:ln w="9525">
            <a:solidFill>
              <a:srgbClr val="D7E1E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809744" y="3602736"/>
            <a:ext cx="2679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Miércoles 11am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4663440" y="3429000"/>
            <a:ext cx="29718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C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Paciente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4663440" y="4233672"/>
            <a:ext cx="2971800" cy="566928"/>
          </a:xfrm>
          <a:prstGeom prst="roundRect">
            <a:avLst>
              <a:gd name="adj" fmla="val 16129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4809744" y="4233672"/>
            <a:ext cx="2679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Confirmo el cambio a miércoles 11:00. ¿Correcto?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4663440" y="4059936"/>
            <a:ext cx="29718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C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4663440" y="5047488"/>
            <a:ext cx="2971800" cy="384048"/>
          </a:xfrm>
          <a:prstGeom prst="roundRect">
            <a:avLst>
              <a:gd name="adj" fmla="val 23810"/>
            </a:avLst>
          </a:prstGeom>
          <a:solidFill>
            <a:srgbClr val="F1F5F4"/>
          </a:solidFill>
          <a:ln w="9525">
            <a:solidFill>
              <a:srgbClr val="D7E1E0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4809744" y="5047488"/>
            <a:ext cx="2679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4663440" y="4873752"/>
            <a:ext cx="29718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C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Paciente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663440" y="5678424"/>
            <a:ext cx="2971800" cy="384048"/>
          </a:xfrm>
          <a:prstGeom prst="roundRect">
            <a:avLst>
              <a:gd name="adj" fmla="val 23810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4809744" y="5678424"/>
            <a:ext cx="2679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Listo, cita reagendada.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4663440" y="5504688"/>
            <a:ext cx="29718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C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8321040" y="1371600"/>
            <a:ext cx="3429000" cy="384048"/>
          </a:xfrm>
          <a:prstGeom prst="roundRect">
            <a:avLst>
              <a:gd name="adj" fmla="val 19048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8321040" y="1371600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Cancelar cita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8321040" y="1828800"/>
            <a:ext cx="3429000" cy="4709160"/>
          </a:xfrm>
          <a:prstGeom prst="roundRect">
            <a:avLst>
              <a:gd name="adj" fmla="val 3733"/>
            </a:avLst>
          </a:prstGeom>
          <a:solidFill>
            <a:srgbClr val="F1F7F6"/>
          </a:solidFill>
          <a:ln w="12700">
            <a:solidFill>
              <a:srgbClr val="F1F7F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549640" y="2157984"/>
            <a:ext cx="2971800" cy="384048"/>
          </a:xfrm>
          <a:prstGeom prst="roundRect">
            <a:avLst>
              <a:gd name="adj" fmla="val 23810"/>
            </a:avLst>
          </a:prstGeom>
          <a:solidFill>
            <a:srgbClr val="F1F5F4"/>
          </a:solidFill>
          <a:ln w="9525">
            <a:solidFill>
              <a:srgbClr val="D7E1E0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8695944" y="2157984"/>
            <a:ext cx="2679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Quiero cancelar mi cita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8549640" y="1984248"/>
            <a:ext cx="29718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C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Paciente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8549640" y="2788920"/>
            <a:ext cx="2971800" cy="566928"/>
          </a:xfrm>
          <a:prstGeom prst="roundRect">
            <a:avLst>
              <a:gd name="adj" fmla="val 16129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695944" y="2788920"/>
            <a:ext cx="2679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Tienes cita el jueves 15:00. ¿Confirmas la cancelación?</a:t>
            </a:r>
            <a:endParaRPr lang="en-US" sz="1000" dirty="0"/>
          </a:p>
        </p:txBody>
      </p:sp>
      <p:sp>
        <p:nvSpPr>
          <p:cNvPr id="54" name="Text 52"/>
          <p:cNvSpPr txBox="1"/>
          <p:nvPr/>
        </p:nvSpPr>
        <p:spPr>
          <a:xfrm>
            <a:off x="8549640" y="2615184"/>
            <a:ext cx="29718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C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8549640" y="3602736"/>
            <a:ext cx="2971800" cy="384048"/>
          </a:xfrm>
          <a:prstGeom prst="roundRect">
            <a:avLst>
              <a:gd name="adj" fmla="val 23810"/>
            </a:avLst>
          </a:prstGeom>
          <a:solidFill>
            <a:srgbClr val="F1F5F4"/>
          </a:solidFill>
          <a:ln w="9525">
            <a:solidFill>
              <a:srgbClr val="D7E1E0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8695944" y="3602736"/>
            <a:ext cx="2679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1000" dirty="0"/>
          </a:p>
        </p:txBody>
      </p:sp>
      <p:sp>
        <p:nvSpPr>
          <p:cNvPr id="57" name="Text 55"/>
          <p:cNvSpPr txBox="1"/>
          <p:nvPr/>
        </p:nvSpPr>
        <p:spPr>
          <a:xfrm>
            <a:off x="8549640" y="3429000"/>
            <a:ext cx="29718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C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Paciente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8549640" y="4233672"/>
            <a:ext cx="2971800" cy="384048"/>
          </a:xfrm>
          <a:prstGeom prst="roundRect">
            <a:avLst>
              <a:gd name="adj" fmla="val 23810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8695944" y="4233672"/>
            <a:ext cx="2679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 cancelada.</a:t>
            </a:r>
            <a:endParaRPr lang="en-US" sz="1000" dirty="0"/>
          </a:p>
        </p:txBody>
      </p:sp>
      <p:sp>
        <p:nvSpPr>
          <p:cNvPr id="60" name="Text 58"/>
          <p:cNvSpPr txBox="1"/>
          <p:nvPr/>
        </p:nvSpPr>
        <p:spPr>
          <a:xfrm>
            <a:off x="8549640" y="4059936"/>
            <a:ext cx="29718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C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Consultas generales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263640" y="365760"/>
            <a:ext cx="5349240" cy="6355080"/>
          </a:xfrm>
          <a:prstGeom prst="roundRect">
            <a:avLst>
              <a:gd name="adj" fmla="val 2393"/>
            </a:avLst>
          </a:prstGeom>
          <a:solidFill>
            <a:srgbClr val="F1F7F6"/>
          </a:solidFill>
          <a:ln w="12700">
            <a:solidFill>
              <a:srgbClr val="F1F7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37960" y="694944"/>
            <a:ext cx="4800600" cy="384048"/>
          </a:xfrm>
          <a:prstGeom prst="roundRect">
            <a:avLst>
              <a:gd name="adj" fmla="val 23810"/>
            </a:avLst>
          </a:prstGeom>
          <a:solidFill>
            <a:srgbClr val="F1F5F4"/>
          </a:solidFill>
          <a:ln w="9525">
            <a:solidFill>
              <a:srgbClr val="D7E1E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84264" y="694944"/>
            <a:ext cx="4507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¿Cuánto vale la sesión?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537960" y="521208"/>
            <a:ext cx="4800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C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Paciente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6537960" y="1298448"/>
            <a:ext cx="4800600" cy="384048"/>
          </a:xfrm>
          <a:prstGeom prst="roundRect">
            <a:avLst>
              <a:gd name="adj" fmla="val 23810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84264" y="1298448"/>
            <a:ext cx="4507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fonasa? Así te paso los precios.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537960" y="1124712"/>
            <a:ext cx="4800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C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537960" y="1901952"/>
            <a:ext cx="4800600" cy="384048"/>
          </a:xfrm>
          <a:prstGeom prst="roundRect">
            <a:avLst>
              <a:gd name="adj" fmla="val 23810"/>
            </a:avLst>
          </a:prstGeom>
          <a:solidFill>
            <a:srgbClr val="F1F5F4"/>
          </a:solidFill>
          <a:ln w="9525">
            <a:solidFill>
              <a:srgbClr val="D7E1E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684264" y="1901952"/>
            <a:ext cx="4507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1728216"/>
            <a:ext cx="4800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C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Paciente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537960" y="2505456"/>
            <a:ext cx="4800600" cy="384048"/>
          </a:xfrm>
          <a:prstGeom prst="roundRect">
            <a:avLst>
              <a:gd name="adj" fmla="val 23810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684264" y="2505456"/>
            <a:ext cx="4507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¿Tramo A, B, C o D?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537960" y="2331720"/>
            <a:ext cx="4800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C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537960" y="3108960"/>
            <a:ext cx="4800600" cy="384048"/>
          </a:xfrm>
          <a:prstGeom prst="roundRect">
            <a:avLst>
              <a:gd name="adj" fmla="val 23810"/>
            </a:avLst>
          </a:prstGeom>
          <a:solidFill>
            <a:srgbClr val="F1F5F4"/>
          </a:solidFill>
          <a:ln w="9525">
            <a:solidFill>
              <a:srgbClr val="D7E1E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684264" y="3108960"/>
            <a:ext cx="4507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537960" y="2935224"/>
            <a:ext cx="4800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C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Paciente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537960" y="3712464"/>
            <a:ext cx="4800600" cy="932688"/>
          </a:xfrm>
          <a:prstGeom prst="roundRect">
            <a:avLst>
              <a:gd name="adj" fmla="val 9804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684264" y="3712464"/>
            <a:ext cx="450799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10 sesiones por fonasa valen alrededor de $38.000...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[precio, dirección y códigos FONASA exactos]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¿Quieres agendar tu hora ahora?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537960" y="3538728"/>
            <a:ext cx="4800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C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1417320"/>
            <a:ext cx="53949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5C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Horarios, precios y previsión vienen directo del documento de fine-tuning de Felipe. El bot mantiene el estado de la conversación (esperando_fonasa, esperando_tramo) para no perder el hilo entre mensajes.</a:t>
            </a:r>
            <a:endParaRPr lang="en-US" sz="1400" dirty="0"/>
          </a:p>
          <a:p>
            <a:pPr algn="l" indent="0" marL="0">
              <a:lnSpc>
                <a:spcPct val="135000"/>
              </a:lnSpc>
              <a:buNone/>
            </a:pPr>
            <a:endParaRPr lang="en-US" sz="14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5C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terminar de mostrar el precio, siempre ofrece agendar la hora ahí mismo.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635508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C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finetuning_compact_v3_felipe.md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Derivación a Felipe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263640" y="365760"/>
            <a:ext cx="5349240" cy="6355080"/>
          </a:xfrm>
          <a:prstGeom prst="roundRect">
            <a:avLst>
              <a:gd name="adj" fmla="val 2393"/>
            </a:avLst>
          </a:prstGeom>
          <a:solidFill>
            <a:srgbClr val="F1F7F6"/>
          </a:solidFill>
          <a:ln w="12700">
            <a:solidFill>
              <a:srgbClr val="F1F7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37960" y="694944"/>
            <a:ext cx="4800600" cy="384048"/>
          </a:xfrm>
          <a:prstGeom prst="roundRect">
            <a:avLst>
              <a:gd name="adj" fmla="val 23810"/>
            </a:avLst>
          </a:prstGeom>
          <a:solidFill>
            <a:srgbClr val="F1F5F4"/>
          </a:solidFill>
          <a:ln w="9525">
            <a:solidFill>
              <a:srgbClr val="D7E1E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84264" y="694944"/>
            <a:ext cx="4507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Tengo dolor en ambas rodillas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537960" y="521208"/>
            <a:ext cx="4800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C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Paciente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6537960" y="1298448"/>
            <a:ext cx="4800600" cy="566928"/>
          </a:xfrm>
          <a:prstGeom prst="roundRect">
            <a:avLst>
              <a:gd name="adj" fmla="val 16129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84264" y="1298448"/>
            <a:ext cx="45079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la información, en un momento Felipe te contacta personalmente para coordinar tu tratamiento.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537960" y="1124712"/>
            <a:ext cx="4800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C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1417320"/>
            <a:ext cx="53949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5C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Cuando el diagnóstico menciona dos zonas distintas (bilateral) o el caso es ambiguo, el bot no crea una ficha automática: deriva la conversación a Felipe directamente.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635508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C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Regla: esBilateral(diagnostico) en actions.go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34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REVISAR JUNTOS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Próximos pasos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1865376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Relato de la orden médica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21284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C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dónde se guarda y cómo lo ve Felipe en el panel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97180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234440" y="2916936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límite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26440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C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hacer si el paciente no reconoce ninguna zona ni diagnóstico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402336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234440" y="3968496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Previsión y agenda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431596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C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que la oferta de agendar tras el precio no se salte pasos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507492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234440" y="5020056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en vivo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536752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C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Correr el flujo completo por WhatsApp con un número nuevo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2026-09-19T13:28:29Z</dcterms:created>
  <dcterms:modified xsi:type="dcterms:W3CDTF">2026-09-19T13:28:29Z</dcterms:modified>
</cp:coreProperties>
</file>